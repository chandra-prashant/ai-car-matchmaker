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64" r:id="rId5"/>
    <p:sldId id="261" r:id="rId6"/>
  </p:sldIdLst>
  <p:sldSz cx="12192000" cy="6858000"/>
  <p:notesSz cx="12192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1260"/>
    <a:srgbClr val="5517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/>
    <p:restoredTop sz="94729"/>
  </p:normalViewPr>
  <p:slideViewPr>
    <p:cSldViewPr>
      <p:cViewPr varScale="1">
        <p:scale>
          <a:sx n="115" d="100"/>
          <a:sy n="115" d="100"/>
        </p:scale>
        <p:origin x="33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A42A0-B4C3-40FD-A0B0-774B134434A1}" type="datetimeFigureOut">
              <a:rPr lang="de-DE" smtClean="0"/>
              <a:t>08.08.26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93456-B988-4407-A8D2-2B4BEEAF38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03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multiple </a:t>
            </a:r>
            <a:r>
              <a:rPr lang="de-DE" dirty="0" err="1"/>
              <a:t>features</a:t>
            </a:r>
            <a:r>
              <a:rPr lang="de-DE" dirty="0"/>
              <a:t>. The </a:t>
            </a:r>
            <a:r>
              <a:rPr lang="de-DE" dirty="0" err="1"/>
              <a:t>icons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also </a:t>
            </a:r>
            <a:r>
              <a:rPr lang="de-DE" dirty="0" err="1"/>
              <a:t>placeholders</a:t>
            </a:r>
            <a:r>
              <a:rPr lang="de-DE" dirty="0"/>
              <a:t>, so </a:t>
            </a:r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93456-B988-4407-A8D2-2B4BEEAF38B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2107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slides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93456-B988-4407-A8D2-2B4BEEAF38B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845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C6FE-5107-28C3-EA5C-35AB4B77F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CF20-49D2-AC6F-E274-2982983F0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AF95C-AEB2-6A12-2DE0-871CDD882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slides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DB473-96BF-9E55-82AF-FFF9BE18B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93456-B988-4407-A8D2-2B4BEEAF38B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713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93456-B988-4407-A8D2-2B4BEEAF38B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1086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1F959-442C-0445-A62D-F783E60C13F2}" type="datetime1">
              <a:rPr lang="en-US" smtClean="0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35CE0-E579-1341-95D6-3F1ECF1791E2}" type="datetime1">
              <a:rPr lang="en-US" smtClean="0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8F9F9-9992-2F40-923A-5E67BC57141F}" type="datetime1">
              <a:rPr lang="en-US" smtClean="0"/>
              <a:t>8/8/26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9645-BDFB-8541-978C-F4D667148382}" type="datetime1">
              <a:rPr lang="en-US" smtClean="0"/>
              <a:t>8/8/26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73209-F8B1-674D-8F77-A9BAABB489EC}" type="datetime1">
              <a:rPr lang="en-US" smtClean="0"/>
              <a:t>8/8/26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23315"/>
            <a:ext cx="103581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178" y="2559811"/>
            <a:ext cx="11597642" cy="2497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55E40-78D2-BA41-A04F-D61B68ACC698}" type="datetime1">
              <a:rPr lang="en-US" smtClean="0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850" y="2369311"/>
            <a:ext cx="10274950" cy="2776529"/>
          </a:xfrm>
          <a:prstGeom prst="rect">
            <a:avLst/>
          </a:prstGeom>
        </p:spPr>
        <p:txBody>
          <a:bodyPr vert="horz" wrap="square" lIns="0" tIns="4318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400"/>
              </a:spcBef>
            </a:pPr>
            <a:r>
              <a:rPr lang="de-DE" sz="6000" spc="-180" dirty="0" err="1"/>
              <a:t>AI Car Matchmaker</a:t>
            </a:r>
            <a:r>
              <a:rPr lang="de-DE" sz="6000" spc="-180" dirty="0"/>
              <a:t/>
            </a:r>
            <a:endParaRPr sz="6000" dirty="0"/>
          </a:p>
          <a:p>
            <a:pPr marL="12700" marR="5431790">
              <a:lnSpc>
                <a:spcPct val="125000"/>
              </a:lnSpc>
              <a:spcBef>
                <a:spcPts val="600"/>
              </a:spcBef>
            </a:pPr>
            <a:r>
              <a:rPr lang="en-US" sz="2400" b="1" spc="-10" dirty="0"/>
              <a:t>Amulate Summer Hackathon 2026
Prashant Chandra
August 9, 2026</a:t>
            </a:r>
            <a:br>
              <a:rPr lang="en-US" sz="2400" spc="-10" dirty="0"/>
            </a:br>
            <a:r>
              <a:rPr lang="de-DE" sz="2400" spc="-10" dirty="0" err="1"/>
              <a:t/>
            </a:r>
            <a:r>
              <a:rPr lang="de-DE" sz="2400" spc="-10" dirty="0"/>
              <a:t/>
            </a:r>
            <a:br>
              <a:rPr lang="de-DE" sz="2400" spc="-10" dirty="0"/>
            </a:br>
            <a:r>
              <a:rPr lang="en-IN" sz="2400" spc="45" dirty="0"/>
              <a:t/>
            </a:r>
            <a:r>
              <a:rPr sz="2400" spc="40" dirty="0"/>
              <a:t/>
            </a:r>
            <a:r>
              <a:rPr sz="2400" spc="-10" dirty="0"/>
              <a:t/>
            </a:r>
            <a:r>
              <a:rPr lang="en-GB" sz="2400" spc="220" dirty="0"/>
              <a:t/>
            </a:r>
            <a:endParaRPr lang="de-DE" sz="2400" spc="2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3499704"/>
            <a:ext cx="1490195" cy="1439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E5B311-7640-53D6-7628-BFEE6D7A2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673967"/>
            <a:ext cx="3009900" cy="10905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5012"/>
            <a:ext cx="11275061" cy="1424749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lang="de-DE" spc="80" dirty="0"/>
              <a:t>AI Car Matchmaker</a:t>
            </a:r>
            <a:r>
              <a:rPr lang="de-DE" spc="80" dirty="0" err="1"/>
              <a:t/>
            </a:r>
            <a:endParaRPr spc="-85" dirty="0"/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lang="de-DE" sz="3200" spc="20" dirty="0"/>
              <a:t>A multistep agent that shows its reasoning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185573" y="4828032"/>
            <a:ext cx="3502660" cy="137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015" algn="ctr">
              <a:lnSpc>
                <a:spcPct val="100000"/>
              </a:lnSpc>
              <a:spcBef>
                <a:spcPts val="100"/>
              </a:spcBef>
            </a:pPr>
            <a:r>
              <a:rPr lang="de-DE" sz="1700" spc="35" dirty="0">
                <a:solidFill>
                  <a:srgbClr val="FFFFFF"/>
                </a:solidFill>
                <a:latin typeface="Trebuchet MS"/>
                <a:cs typeface="Trebuchet MS"/>
              </a:rPr>
              <a:t>Interviews first</a:t>
            </a:r>
          </a:p>
          <a:p>
            <a:pPr marL="755015" algn="ctr">
              <a:lnSpc>
                <a:spcPct val="100000"/>
              </a:lnSpc>
              <a:spcBef>
                <a:spcPts val="100"/>
              </a:spcBef>
            </a:pPr>
            <a:r>
              <a:rPr lang="en-IN" sz="1100" spc="35" dirty="0">
                <a:solidFill>
                  <a:srgbClr val="B9A9D6"/>
                </a:solidFill>
                <a:latin typeface="Trebuchet MS"/>
                <a:cs typeface="Trebuchet MS"/>
              </a:rPr>
              <a:t>Elicits use, type, budget and dates, then searches real inventory.</a:t>
            </a:r>
            <a:r>
              <a:rPr lang="de-DE" sz="1100" spc="35" dirty="0">
                <a:solidFill>
                  <a:srgbClr val="B9A9D6"/>
                </a:solidFill>
                <a:latin typeface="Trebuchet MS"/>
                <a:cs typeface="Trebuchet MS"/>
              </a:rPr>
              <a:t/>
            </a:r>
            <a:endParaRPr lang="en-IN" sz="2000" dirty="0">
              <a:latin typeface="Trebuchet MS"/>
              <a:cs typeface="Trebuchet MS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4A4D3C8-CA4E-C079-451E-86C7FCAF7558}"/>
              </a:ext>
            </a:extLst>
          </p:cNvPr>
          <p:cNvSpPr txBox="1"/>
          <p:nvPr/>
        </p:nvSpPr>
        <p:spPr>
          <a:xfrm>
            <a:off x="4169486" y="4828032"/>
            <a:ext cx="3502660" cy="137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015" algn="ctr">
              <a:lnSpc>
                <a:spcPct val="100000"/>
              </a:lnSpc>
              <a:spcBef>
                <a:spcPts val="100"/>
              </a:spcBef>
            </a:pPr>
            <a:r>
              <a:rPr lang="de-DE" sz="1700" spc="35" dirty="0">
                <a:solidFill>
                  <a:srgbClr val="FFFFFF"/>
                </a:solidFill>
                <a:latin typeface="Trebuchet MS"/>
                <a:cs typeface="Trebuchet MS"/>
              </a:rPr>
              <a:t>Shows its working</a:t>
            </a:r>
          </a:p>
          <a:p>
            <a:pPr marL="755015" algn="ctr">
              <a:lnSpc>
                <a:spcPct val="100000"/>
              </a:lnSpc>
              <a:spcBef>
                <a:spcPts val="100"/>
              </a:spcBef>
            </a:pPr>
            <a:r>
              <a:rPr lang="en-IN" sz="1100" spc="35" dirty="0">
                <a:solidFill>
                  <a:srgbClr val="B9A9D6"/>
                </a:solidFill>
                <a:latin typeface="Trebuchet MS"/>
                <a:cs typeface="Trebuchet MS"/>
              </a:rPr>
              <a:t>Weights inferred from your priorities; every score broken down.</a:t>
            </a:r>
            <a:r>
              <a:rPr lang="de-DE" sz="1100" spc="35" dirty="0">
                <a:solidFill>
                  <a:srgbClr val="B9A9D6"/>
                </a:solidFill>
                <a:latin typeface="Trebuchet MS"/>
                <a:cs typeface="Trebuchet MS"/>
              </a:rPr>
              <a:t/>
            </a:r>
            <a:endParaRPr lang="en-IN" sz="2000" dirty="0">
              <a:latin typeface="Trebuchet MS"/>
              <a:cs typeface="Trebuchet MS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8D05AB9-A7D1-A08D-A392-F96D21957BB9}"/>
              </a:ext>
            </a:extLst>
          </p:cNvPr>
          <p:cNvSpPr txBox="1"/>
          <p:nvPr/>
        </p:nvSpPr>
        <p:spPr>
          <a:xfrm>
            <a:off x="8153400" y="4828032"/>
            <a:ext cx="3502660" cy="137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015" algn="ctr">
              <a:lnSpc>
                <a:spcPct val="100000"/>
              </a:lnSpc>
              <a:spcBef>
                <a:spcPts val="100"/>
              </a:spcBef>
            </a:pPr>
            <a:r>
              <a:rPr lang="de-DE" sz="1700" spc="35" dirty="0">
                <a:solidFill>
                  <a:srgbClr val="FFFFFF"/>
                </a:solidFill>
                <a:latin typeface="Trebuchet MS"/>
                <a:cs typeface="Trebuchet MS"/>
              </a:rPr>
              <a:t>Books in the chat</a:t>
            </a:r>
          </a:p>
          <a:p>
            <a:pPr marL="755015" algn="ctr">
              <a:lnSpc>
                <a:spcPct val="100000"/>
              </a:lnSpc>
              <a:spcBef>
                <a:spcPts val="100"/>
              </a:spcBef>
            </a:pPr>
            <a:r>
              <a:rPr lang="en-IN" sz="1100" spc="35" dirty="0">
                <a:solidFill>
                  <a:srgbClr val="B9A9D6"/>
                </a:solidFill>
                <a:latin typeface="Trebuchet MS"/>
                <a:cs typeface="Trebuchet MS"/>
              </a:rPr>
              <a:t>Form and simulated checkout are MCP Apps, rendered inline.</a:t>
            </a:r>
            <a:r>
              <a:rPr lang="de-DE" sz="1100" spc="35" dirty="0">
                <a:solidFill>
                  <a:srgbClr val="B9A9D6"/>
                </a:solidFill>
                <a:latin typeface="Trebuchet MS"/>
                <a:cs typeface="Trebuchet MS"/>
              </a:rPr>
              <a:t/>
            </a:r>
            <a:endParaRPr lang="en-IN" sz="2000" dirty="0">
              <a:latin typeface="Trebuchet MS"/>
              <a:cs typeface="Trebuchet MS"/>
            </a:endParaRPr>
          </a:p>
        </p:txBody>
      </p:sp>
      <p:pic>
        <p:nvPicPr>
          <p:cNvPr id="12" name="Graphic 11" descr="Greek Temple with solid fill">
            <a:extLst>
              <a:ext uri="{FF2B5EF4-FFF2-40B4-BE49-F238E27FC236}">
                <a16:creationId xmlns:a16="http://schemas.microsoft.com/office/drawing/2014/main" id="{DB7AB6E5-FE02-2441-0EE0-EC182F51D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7400" y="3281888"/>
            <a:ext cx="1371600" cy="1371600"/>
          </a:xfrm>
          <a:prstGeom prst="rect">
            <a:avLst/>
          </a:prstGeom>
        </p:spPr>
      </p:pic>
      <p:pic>
        <p:nvPicPr>
          <p:cNvPr id="14" name="Graphic 13" descr="Alarm clock with solid fill">
            <a:extLst>
              <a:ext uri="{FF2B5EF4-FFF2-40B4-BE49-F238E27FC236}">
                <a16:creationId xmlns:a16="http://schemas.microsoft.com/office/drawing/2014/main" id="{A1E49310-372F-A2C8-E64A-120FDD961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600" y="3281888"/>
            <a:ext cx="1371600" cy="1371600"/>
          </a:xfrm>
          <a:prstGeom prst="rect">
            <a:avLst/>
          </a:prstGeom>
        </p:spPr>
      </p:pic>
      <p:pic>
        <p:nvPicPr>
          <p:cNvPr id="16" name="Graphic 15" descr="Good Idea with solid fill">
            <a:extLst>
              <a:ext uri="{FF2B5EF4-FFF2-40B4-BE49-F238E27FC236}">
                <a16:creationId xmlns:a16="http://schemas.microsoft.com/office/drawing/2014/main" id="{4FAB4FDC-154B-5D4B-0AB9-1B6751FDB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6400" y="3281888"/>
            <a:ext cx="1371600" cy="1371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4EECE0-EA95-C181-E79E-CEF505D57F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5012"/>
            <a:ext cx="10970261" cy="142303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lang="de-DE" spc="80" dirty="0"/>
              <a:t>Architecture</a:t>
            </a:r>
            <a:endParaRPr spc="-85" dirty="0"/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lang="de-DE" sz="3200" dirty="0"/>
              <a:t>Protocols end to end</a:t>
            </a:r>
            <a:endParaRPr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3FB881-99D8-B623-5BFB-F60E904435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66928" y="214884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2331720"/>
            <a:ext cx="2084832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</a:rPr>
              <a:t>Browser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B9A9D6"/>
                </a:solidFill>
              </a:rPr>
              <a:t>A2UI renderer
MCP Apps host</a:t>
            </a:r>
          </a:p>
          <a:p>
            <a:pPr>
              <a:spcBef>
                <a:spcPts val="800"/>
              </a:spcBef>
            </a:pPr>
            <a:r>
              <a:rPr sz="900" b="0">
                <a:solidFill>
                  <a:srgbClr val="F0A030"/>
                </a:solidFill>
              </a:rPr>
              <a:t>:3000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3145536" y="2770632"/>
            <a:ext cx="201168" cy="237744"/>
          </a:xfrm>
          <a:prstGeom prst="triangl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38144" y="214884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9312" y="2331720"/>
            <a:ext cx="2084832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</a:rPr>
              <a:t>Agent loop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B9A9D6"/>
                </a:solidFill>
              </a:rPr>
              <a:t>Interview → Research
→ Recommend → Book</a:t>
            </a:r>
          </a:p>
          <a:p>
            <a:pPr>
              <a:spcBef>
                <a:spcPts val="800"/>
              </a:spcBef>
            </a:pPr>
            <a:r>
              <a:rPr sz="900" b="0">
                <a:solidFill>
                  <a:srgbClr val="F0A030"/>
                </a:solidFill>
              </a:rPr>
              <a:t>FastAPI, SSE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6016752" y="2770632"/>
            <a:ext cx="201168" cy="237744"/>
          </a:xfrm>
          <a:prstGeom prst="triangl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14884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2331720"/>
            <a:ext cx="2084832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</a:rPr>
              <a:t>MCP servers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B9A9D6"/>
                </a:solidFill>
              </a:rPr>
              <a:t>marketplace
booking-form · checkout</a:t>
            </a:r>
          </a:p>
          <a:p>
            <a:pPr>
              <a:spcBef>
                <a:spcPts val="800"/>
              </a:spcBef>
            </a:pPr>
            <a:r>
              <a:rPr sz="900" b="0">
                <a:solidFill>
                  <a:srgbClr val="F0A030"/>
                </a:solidFill>
              </a:rPr>
              <a:t>3 servers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8887968" y="2770632"/>
            <a:ext cx="201168" cy="237744"/>
          </a:xfrm>
          <a:prstGeom prst="triangl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0576" y="2148840"/>
            <a:ext cx="2487168" cy="1481328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81744" y="2331720"/>
            <a:ext cx="2084832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</a:rPr>
              <a:t>Catalogue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B9A9D6"/>
                </a:solidFill>
              </a:rPr>
              <a:t>183 listings
12 categories · 10 brands</a:t>
            </a:r>
          </a:p>
          <a:p>
            <a:pPr>
              <a:spcBef>
                <a:spcPts val="800"/>
              </a:spcBef>
            </a:pPr>
            <a:r>
              <a:rPr sz="900" b="0">
                <a:solidFill>
                  <a:srgbClr val="F0A030"/>
                </a:solidFill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3434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Two protocols, implemented rather than simulated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B9A9D6"/>
                </a:solidFill>
              </a:rPr>
              <a:t>A2UI v1.0 with a custom component catalog — the agent names components and binds data; the client owns how they look. Result surfaces are created inline; the requirements panel sends its structure once and refreshes with data alone.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9A9D6"/>
                </a:solidFill>
              </a:rPr>
              <a:t>MCP Apps per SEP-1865 — views render through a sandbox proxy on a separate origin, under a host-constructed CSP, and may call only the tools their server marks app-visible.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A537-9E25-70FA-6D6D-CD9DAB12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A8E86A-ED2F-DE9F-F3A6-3877E145E1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485012"/>
            <a:ext cx="10970261" cy="142303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lang="de-DE" spc="80" dirty="0"/>
              <a:t>Implementation</a:t>
            </a:r>
            <a:endParaRPr spc="-85" dirty="0"/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lang="de-DE" sz="3200" dirty="0"/>
              <a:t>Stack and orchestration</a:t>
            </a:r>
            <a:r>
              <a:rPr lang="de-DE" sz="3200" dirty="0" err="1"/>
              <a:t/>
            </a:r>
            <a:endParaRPr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4A155-C479-0A95-6715-0CCEB53691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0A030"/>
                </a:solidFill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87168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Agent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Provider-agnostic tool-use loop; runs on Gemini, Anthropic, OpenAI or a local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19856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Backend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Python 3.12 · FastAPI · SSE · SQLite · MCP Python SDK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352544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Frontend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Next.js · TypeScript · A2UI renderer · MCP Apps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85231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Ships as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Docker Compose — three services, seeded at build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0A030"/>
                </a:solidFill>
              </a:rPr>
              <a:t>How orchestration is enforced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487168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Guards, not prompts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Research cannot begin before the required slots are filled — the search tools are not offered until 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419856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Refusals are corrective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A blocked transition returns what is missing, so the agent asks the user rather than stalling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352544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Payments are safe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No payment library in the dependency tree — a test asserts it; test cards only, deliberately no Luhn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285231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104 tests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B9A9D6"/>
                </a:solidFill>
              </a:rPr>
              <a:t>Every phase rule is provable without an API key</a:t>
            </a:r>
          </a:p>
        </p:txBody>
      </p:sp>
    </p:spTree>
    <p:extLst>
      <p:ext uri="{BB962C8B-B14F-4D97-AF65-F5344CB8AC3E}">
        <p14:creationId xmlns:p14="http://schemas.microsoft.com/office/powerpoint/2010/main" val="164873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>
            <a:extLst>
              <a:ext uri="{FF2B5EF4-FFF2-40B4-BE49-F238E27FC236}">
                <a16:creationId xmlns:a16="http://schemas.microsoft.com/office/drawing/2014/main" id="{2CEE59DF-1CCE-6C3B-CDFF-96393A399DF6}"/>
              </a:ext>
            </a:extLst>
          </p:cNvPr>
          <p:cNvSpPr txBox="1">
            <a:spLocks/>
          </p:cNvSpPr>
          <p:nvPr/>
        </p:nvSpPr>
        <p:spPr>
          <a:xfrm>
            <a:off x="916939" y="485012"/>
            <a:ext cx="10970261" cy="142303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90"/>
              </a:spcBef>
            </a:pPr>
            <a:r>
              <a:rPr lang="de-DE" kern="0" spc="80" dirty="0" err="1"/>
              <a:t>Conclusion and Future Evolutions</a:t>
            </a:r>
            <a:r>
              <a:rPr lang="de-DE" kern="0" spc="80" dirty="0"/>
              <a:t/>
            </a:r>
            <a:r>
              <a:rPr lang="de-DE" kern="0" spc="80" dirty="0" err="1"/>
              <a:t/>
            </a:r>
            <a:endParaRPr lang="de-DE" kern="0" spc="-85" dirty="0"/>
          </a:p>
          <a:p>
            <a:pPr marL="12700">
              <a:spcBef>
                <a:spcPts val="790"/>
              </a:spcBef>
            </a:pPr>
            <a:endParaRPr lang="de-DE" sz="3200" kern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23E54-A1F7-243D-4550-47FE9E0F1F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66928" y="196596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</a:rPr>
              <a:t>A ranked list is not a recommendation until you can see why.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B9A9D6"/>
                </a:solidFill>
              </a:rPr>
              <a:t>The agent interviews, searches real inventory, ranks against weights drawn from the user's own priorities, and shows the working — then completes the booking without leaving the conversation.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20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3721608"/>
            <a:ext cx="30998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Observability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B9A9D6"/>
                </a:solidFill>
              </a:rPr>
              <a:t>OpenTelemetry traces to Langfuse, with an eval suite over the deterministic runner — planned, descoped against the deadline.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520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45152" y="3721608"/>
            <a:ext cx="30998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Real marketplaces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B9A9D6"/>
                </a:solidFill>
              </a:rPr>
              <a:t>The marketplace server is already an MCP boundary, so live dealer and rental APIs drop in behind it unchanged.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3" y="3520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2E1259"/>
          </a:solidFill>
          <a:ln w="9525">
            <a:solidFill>
              <a:srgbClr val="4A2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03919" y="3721608"/>
            <a:ext cx="30998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Richer elicitation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B9A9D6"/>
                </a:solidFill>
              </a:rPr>
              <a:t>A2UI input components — budget sliders, date pickers — so the interview stops being purely conversational.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0A030"/>
                </a:solidFill>
              </a:rPr>
              <a:t>github.com/Chandra-Prashant/ai-car-matchmaker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2601314-b878-4900-a263-6d04f23371fa}" enabled="1" method="Privileged" siteId="{ce849bab-cc1c-465b-b62e-18f07c9ac19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111</Words>
  <Application>Microsoft Macintosh PowerPoint</Application>
  <PresentationFormat>Widescreen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Calibri</vt:lpstr>
      <vt:lpstr>Tahoma</vt:lpstr>
      <vt:lpstr>Trebuchet MS</vt:lpstr>
      <vt:lpstr>Office Theme</vt:lpstr>
      <vt:lpstr>Presentation Title Amulate Summer Hackathon 2026 Presenter Name: August 9, 2026</vt:lpstr>
      <vt:lpstr>Solution Overview Key Features</vt:lpstr>
      <vt:lpstr>Solution Deep-Dive Architecture</vt:lpstr>
      <vt:lpstr>Solution Deep-Dive Implementation Details &amp; Stack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The Amulate Program Mid-Term Presentation July 28, 2024</dc:title>
  <cp:lastModifiedBy>Umar Mohd Toaha, FG-220</cp:lastModifiedBy>
  <cp:revision>21</cp:revision>
  <dcterms:created xsi:type="dcterms:W3CDTF">2024-07-23T22:10:13Z</dcterms:created>
  <dcterms:modified xsi:type="dcterms:W3CDTF">2026-08-08T15:59:36Z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2024-05-05T00:00:00Z</vt:filetime>
  </property>
  <property fmtid="{D5CDD505-2E9C-101B-9397-08002B2CF9AE}" pid="3" name="LastSaved">
    <vt:filetime>2024-07-23T00:00:00Z</vt:filetime>
  </property>
</Properties>
</file>